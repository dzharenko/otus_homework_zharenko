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2E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rPr dirty="0" err="1"/>
              <a:t>Классификация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 </a:t>
            </a:r>
            <a:r>
              <a:rPr dirty="0" err="1" smtClean="0"/>
              <a:t>переработ</a:t>
            </a:r>
            <a:r>
              <a:rPr lang="ru-RU" dirty="0" err="1" smtClean="0"/>
              <a:t>ок</a:t>
            </a:r>
            <a:endParaRPr dirty="0"/>
          </a:p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текстового</a:t>
            </a:r>
            <a:r>
              <a:rPr dirty="0"/>
              <a:t> </a:t>
            </a:r>
            <a:r>
              <a:rPr dirty="0" err="1"/>
              <a:t>описания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2F2F2"/>
                </a:solidFill>
              </a:defRPr>
            </a:pPr>
            <a:r>
              <a:rPr lang="en-US" dirty="0" smtClean="0"/>
              <a:t>OTUS </a:t>
            </a:r>
            <a:r>
              <a:rPr dirty="0" smtClean="0"/>
              <a:t>ML-</a:t>
            </a:r>
            <a:r>
              <a:rPr lang="en-US" dirty="0" smtClean="0"/>
              <a:t>Basic </a:t>
            </a:r>
            <a:r>
              <a:rPr dirty="0" smtClean="0"/>
              <a:t>: </a:t>
            </a:r>
            <a:r>
              <a:rPr dirty="0" err="1" smtClean="0"/>
              <a:t>автоматическое</a:t>
            </a:r>
            <a:r>
              <a:rPr dirty="0" smtClean="0"/>
              <a:t> </a:t>
            </a: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переработок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плановые</a:t>
            </a:r>
            <a:r>
              <a:rPr dirty="0"/>
              <a:t> и </a:t>
            </a:r>
            <a:r>
              <a:rPr dirty="0" err="1"/>
              <a:t>аварийные</a:t>
            </a:r>
            <a:r>
              <a:rPr dirty="0"/>
              <a:t> (АВР)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2F2F2"/>
                </a:solidFill>
              </a:defRPr>
            </a:pPr>
            <a:r>
              <a:rPr lang="ru-RU" dirty="0" smtClean="0"/>
              <a:t>Жаренко Денис</a:t>
            </a:r>
            <a:r>
              <a:rPr dirty="0" smtClean="0"/>
              <a:t>|  </a:t>
            </a:r>
            <a:r>
              <a:rPr dirty="0"/>
              <a:t>06.07.2026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Данные и 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Источник</a:t>
            </a:r>
            <a:r>
              <a:rPr dirty="0"/>
              <a:t>: Excel-</a:t>
            </a:r>
            <a:r>
              <a:rPr dirty="0" err="1"/>
              <a:t>выгрузка</a:t>
            </a:r>
            <a:r>
              <a:rPr dirty="0"/>
              <a:t> с </a:t>
            </a:r>
            <a:r>
              <a:rPr dirty="0" err="1"/>
              <a:t>описаниями</a:t>
            </a:r>
            <a:r>
              <a:rPr dirty="0"/>
              <a:t> </a:t>
            </a:r>
            <a:r>
              <a:rPr dirty="0" err="1"/>
              <a:t>переработок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Объём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: 16 883 </a:t>
            </a:r>
            <a:r>
              <a:rPr dirty="0" err="1" smtClean="0"/>
              <a:t>запис</a:t>
            </a:r>
            <a:r>
              <a:rPr lang="ru-RU" dirty="0" smtClean="0"/>
              <a:t>и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Признак</a:t>
            </a:r>
            <a:r>
              <a:rPr dirty="0"/>
              <a:t>: </a:t>
            </a:r>
            <a:r>
              <a:rPr dirty="0" err="1"/>
              <a:t>текстовое</a:t>
            </a:r>
            <a:r>
              <a:rPr dirty="0"/>
              <a:t> </a:t>
            </a:r>
            <a:r>
              <a:rPr lang="ru-RU" dirty="0" smtClean="0"/>
              <a:t>о</a:t>
            </a:r>
            <a:r>
              <a:rPr dirty="0" err="1" smtClean="0"/>
              <a:t>писание</a:t>
            </a:r>
            <a:r>
              <a:rPr dirty="0" smtClean="0"/>
              <a:t> </a:t>
            </a:r>
            <a:r>
              <a:rPr dirty="0" err="1" smtClean="0"/>
              <a:t>переработки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Целевая</a:t>
            </a:r>
            <a:r>
              <a:rPr dirty="0"/>
              <a:t> </a:t>
            </a:r>
            <a:r>
              <a:rPr dirty="0" err="1"/>
              <a:t>переменная</a:t>
            </a:r>
            <a:r>
              <a:rPr dirty="0"/>
              <a:t>: «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переработки</a:t>
            </a:r>
            <a:r>
              <a:rPr dirty="0"/>
              <a:t>»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Классы</a:t>
            </a:r>
            <a:r>
              <a:rPr dirty="0"/>
              <a:t>: АВР / </a:t>
            </a:r>
            <a:r>
              <a:rPr dirty="0" err="1"/>
              <a:t>Плановые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слов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нормализации</a:t>
            </a:r>
            <a:r>
              <a:rPr dirty="0"/>
              <a:t>: 276 258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Уникальных</a:t>
            </a:r>
            <a:r>
              <a:rPr dirty="0"/>
              <a:t> </a:t>
            </a:r>
            <a:r>
              <a:rPr dirty="0" err="1"/>
              <a:t>слов</a:t>
            </a:r>
            <a:r>
              <a:rPr dirty="0"/>
              <a:t>: 34 226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Задача</a:t>
            </a:r>
            <a:r>
              <a:rPr dirty="0"/>
              <a:t>: </a:t>
            </a:r>
            <a:r>
              <a:rPr dirty="0" err="1"/>
              <a:t>бинарная</a:t>
            </a:r>
            <a:r>
              <a:rPr dirty="0"/>
              <a:t> </a:t>
            </a:r>
            <a:r>
              <a:rPr dirty="0" err="1"/>
              <a:t>классификация</a:t>
            </a:r>
            <a:r>
              <a:rPr dirty="0"/>
              <a:t> </a:t>
            </a:r>
            <a:r>
              <a:rPr dirty="0" err="1"/>
              <a:t>текста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126480" y="62636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4E79"/>
                </a:solidFill>
              </a:defRPr>
            </a:pPr>
            <a:r>
              <a:rPr dirty="0"/>
              <a:t>АВР: 13549  |  </a:t>
            </a:r>
            <a:r>
              <a:rPr dirty="0" err="1"/>
              <a:t>Плановые</a:t>
            </a:r>
            <a:r>
              <a:rPr dirty="0"/>
              <a:t>: 3334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258" y="1600356"/>
            <a:ext cx="7082659" cy="4044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признаков</a:t>
            </a:r>
            <a:r>
              <a:rPr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188720"/>
            <a:ext cx="1087608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Лемматизация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pymorphy3 (</a:t>
            </a:r>
            <a:r>
              <a:rPr dirty="0" err="1"/>
              <a:t>приведение</a:t>
            </a:r>
            <a:r>
              <a:rPr dirty="0"/>
              <a:t> к </a:t>
            </a:r>
            <a:r>
              <a:rPr dirty="0" err="1"/>
              <a:t>начальной</a:t>
            </a:r>
            <a:r>
              <a:rPr dirty="0"/>
              <a:t> </a:t>
            </a:r>
            <a:r>
              <a:rPr dirty="0" err="1"/>
              <a:t>форме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пунктуации</a:t>
            </a:r>
            <a:r>
              <a:rPr dirty="0"/>
              <a:t>, lowercasing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Фильтрация</a:t>
            </a:r>
            <a:r>
              <a:rPr dirty="0"/>
              <a:t> </a:t>
            </a:r>
            <a:r>
              <a:rPr dirty="0" err="1" smtClean="0"/>
              <a:t>частей</a:t>
            </a:r>
            <a:r>
              <a:rPr dirty="0" smtClean="0"/>
              <a:t> </a:t>
            </a:r>
            <a:r>
              <a:rPr dirty="0" err="1"/>
              <a:t>речи</a:t>
            </a:r>
            <a:r>
              <a:rPr dirty="0"/>
              <a:t>: PREP, CONJ, NPRO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Кэширование</a:t>
            </a:r>
            <a:r>
              <a:rPr dirty="0"/>
              <a:t> </a:t>
            </a:r>
            <a:r>
              <a:rPr dirty="0" err="1"/>
              <a:t>нормализации</a:t>
            </a:r>
            <a:r>
              <a:rPr dirty="0"/>
              <a:t> — </a:t>
            </a:r>
            <a:r>
              <a:rPr dirty="0" err="1"/>
              <a:t>ускорение</a:t>
            </a:r>
            <a:r>
              <a:rPr dirty="0"/>
              <a:t> </a:t>
            </a:r>
            <a:r>
              <a:rPr dirty="0" err="1"/>
              <a:t>повторных</a:t>
            </a:r>
            <a:r>
              <a:rPr dirty="0"/>
              <a:t> </a:t>
            </a:r>
            <a:r>
              <a:rPr dirty="0" err="1"/>
              <a:t>вызовов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Bag-of-Words: </a:t>
            </a:r>
            <a:r>
              <a:rPr dirty="0" err="1"/>
              <a:t>матрица</a:t>
            </a:r>
            <a:r>
              <a:rPr dirty="0"/>
              <a:t> «</a:t>
            </a:r>
            <a:r>
              <a:rPr dirty="0" err="1"/>
              <a:t>документ</a:t>
            </a:r>
            <a:r>
              <a:rPr dirty="0"/>
              <a:t> </a:t>
            </a:r>
            <a:r>
              <a:rPr lang="en-US" dirty="0" smtClean="0"/>
              <a:t>-</a:t>
            </a:r>
            <a:r>
              <a:rPr dirty="0" smtClean="0"/>
              <a:t> </a:t>
            </a:r>
            <a:r>
              <a:rPr dirty="0" err="1"/>
              <a:t>слово</a:t>
            </a:r>
            <a:r>
              <a:rPr dirty="0"/>
              <a:t>»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Словарь</a:t>
            </a:r>
            <a:r>
              <a:rPr dirty="0"/>
              <a:t>: топ-500 </a:t>
            </a:r>
            <a:r>
              <a:rPr dirty="0" err="1"/>
              <a:t>самых</a:t>
            </a:r>
            <a:r>
              <a:rPr dirty="0"/>
              <a:t> </a:t>
            </a:r>
            <a:r>
              <a:rPr dirty="0" err="1"/>
              <a:t>частых</a:t>
            </a:r>
            <a:r>
              <a:rPr dirty="0"/>
              <a:t> </a:t>
            </a:r>
            <a:r>
              <a:rPr dirty="0" err="1"/>
              <a:t>слов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ячеек</a:t>
            </a:r>
            <a:r>
              <a:rPr dirty="0"/>
              <a:t>: </a:t>
            </a:r>
            <a:r>
              <a:rPr dirty="0" err="1"/>
              <a:t>частота</a:t>
            </a:r>
            <a:r>
              <a:rPr dirty="0"/>
              <a:t> </a:t>
            </a:r>
            <a:r>
              <a:rPr dirty="0" err="1"/>
              <a:t>слова</a:t>
            </a:r>
            <a:r>
              <a:rPr dirty="0"/>
              <a:t> в </a:t>
            </a:r>
            <a:r>
              <a:rPr dirty="0" err="1" smtClean="0"/>
              <a:t>описании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171" y="3894475"/>
            <a:ext cx="4933950" cy="140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Разведочный анализ данных</a:t>
            </a:r>
          </a:p>
        </p:txBody>
      </p:sp>
      <p:pic>
        <p:nvPicPr>
          <p:cNvPr id="3" name="Picture 2" descr="02_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91321"/>
            <a:ext cx="5760720" cy="3406877"/>
          </a:xfrm>
          <a:prstGeom prst="rect">
            <a:avLst/>
          </a:prstGeom>
        </p:spPr>
      </p:pic>
      <p:pic>
        <p:nvPicPr>
          <p:cNvPr id="4" name="Picture 3" descr="03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67598"/>
            <a:ext cx="5760720" cy="5054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Модели и метрики</a:t>
            </a:r>
          </a:p>
        </p:txBody>
      </p:sp>
      <p:pic>
        <p:nvPicPr>
          <p:cNvPr id="3" name="Picture 2" descr="06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26958"/>
            <a:ext cx="5943600" cy="323248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 (АВР)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 (План.)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F1-macro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864B"/>
                          </a:solidFill>
                        </a:defRPr>
                      </a:pPr>
                      <a:r>
                        <a:rPr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64B"/>
                          </a:solidFill>
                        </a:defRPr>
                      </a:pPr>
                      <a:r>
                        <a:rPr dirty="0"/>
                        <a:t>0.965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64B"/>
                          </a:solidFill>
                        </a:defRPr>
                      </a:pPr>
                      <a:r>
                        <a:rPr dirty="0"/>
                        <a:t>0.851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64B"/>
                          </a:solidFill>
                        </a:defRPr>
                      </a:pPr>
                      <a:r>
                        <a:rPr dirty="0"/>
                        <a:t>0.908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64B"/>
                          </a:solidFill>
                        </a:defRPr>
                      </a:pPr>
                      <a:r>
                        <a:rPr dirty="0"/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864B"/>
                          </a:solidFill>
                        </a:defRPr>
                      </a:pPr>
                      <a:r>
                        <a:rPr dirty="0"/>
                        <a:t>0.9746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Random Forest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0.938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0.639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0.789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0.894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0.9662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0.9821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8404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4E79"/>
                </a:solidFill>
              </a:defRPr>
            </a:pPr>
            <a:r>
              <a:rPr dirty="0" err="1"/>
              <a:t>Подбор</a:t>
            </a:r>
            <a:r>
              <a:rPr dirty="0"/>
              <a:t> </a:t>
            </a:r>
            <a:r>
              <a:rPr dirty="0" err="1"/>
              <a:t>гиперпараметров</a:t>
            </a:r>
            <a:r>
              <a:rPr dirty="0"/>
              <a:t> (</a:t>
            </a:r>
            <a:r>
              <a:rPr dirty="0" err="1"/>
              <a:t>GridSearchCV</a:t>
            </a:r>
            <a:r>
              <a:rPr dirty="0"/>
              <a:t>, 5-fold CV):</a:t>
            </a:r>
          </a:p>
          <a:p>
            <a:pPr>
              <a:spcAft>
                <a:spcPts val="400"/>
              </a:spcAft>
              <a:defRPr sz="1100" b="0">
                <a:solidFill>
                  <a:srgbClr val="262626"/>
                </a:solidFill>
              </a:defRPr>
            </a:pPr>
            <a:r>
              <a:rPr dirty="0" err="1"/>
              <a:t>GridSearch</a:t>
            </a:r>
            <a:r>
              <a:rPr dirty="0"/>
              <a:t> LR: {'C': 1.0, 'penalty': 'l2', 'solver': 'saga'}</a:t>
            </a:r>
            <a:br>
              <a:rPr dirty="0"/>
            </a:br>
            <a:r>
              <a:rPr dirty="0" err="1"/>
              <a:t>GridSearch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: </a:t>
            </a:r>
            <a:r>
              <a:rPr dirty="0" err="1"/>
              <a:t>n_est</a:t>
            </a:r>
            <a:r>
              <a:rPr dirty="0"/>
              <a:t>=200, depth=9, </a:t>
            </a:r>
            <a:r>
              <a:rPr dirty="0" err="1"/>
              <a:t>lr</a:t>
            </a:r>
            <a:r>
              <a:rPr dirty="0"/>
              <a:t>=0.1, subsample=1.0, </a:t>
            </a:r>
            <a:r>
              <a:rPr dirty="0" err="1"/>
              <a:t>colsample</a:t>
            </a:r>
            <a:r>
              <a:rPr dirty="0"/>
              <a:t>=0.8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выводы</a:t>
            </a:r>
            <a:r>
              <a:rPr dirty="0"/>
              <a:t>:</a:t>
            </a:r>
          </a:p>
          <a:p>
            <a:pPr>
              <a:spcAft>
                <a:spcPts val="400"/>
              </a:spcAft>
              <a:defRPr sz="1300" b="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Лучшая</a:t>
            </a:r>
            <a:r>
              <a:rPr dirty="0"/>
              <a:t> LR: ROC-AUC = 0.9746</a:t>
            </a:r>
          </a:p>
          <a:p>
            <a:pPr>
              <a:spcAft>
                <a:spcPts val="400"/>
              </a:spcAft>
              <a:defRPr sz="1300" b="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Лучшая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: ROC-AUC = 0.9821</a:t>
            </a:r>
          </a:p>
          <a:p>
            <a:pPr>
              <a:spcAft>
                <a:spcPts val="400"/>
              </a:spcAft>
              <a:defRPr sz="1300" b="0">
                <a:solidFill>
                  <a:srgbClr val="262626"/>
                </a:solidFill>
              </a:defRPr>
            </a:pPr>
            <a:r>
              <a:rPr dirty="0"/>
              <a:t>• Random Forest: ROC-AUC = 0.9662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053" y="4384505"/>
            <a:ext cx="2790482" cy="2199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Выбор финальной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2E864B"/>
                </a:solidFill>
              </a:defRPr>
            </a:pPr>
            <a:r>
              <a:t>Итог: выбрана логистическая регрессия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15568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Разница</a:t>
            </a:r>
            <a:r>
              <a:rPr dirty="0"/>
              <a:t> ROC-AUC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 и LR </a:t>
            </a:r>
            <a:r>
              <a:rPr dirty="0" err="1"/>
              <a:t>всего</a:t>
            </a:r>
            <a:r>
              <a:rPr dirty="0"/>
              <a:t> 0.0074 — </a:t>
            </a:r>
            <a:r>
              <a:rPr dirty="0" err="1"/>
              <a:t>незначительна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Обе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практически</a:t>
            </a:r>
            <a:r>
              <a:rPr dirty="0"/>
              <a:t> </a:t>
            </a:r>
            <a:r>
              <a:rPr dirty="0" err="1"/>
              <a:t>одинаковую</a:t>
            </a:r>
            <a:r>
              <a:rPr dirty="0"/>
              <a:t> </a:t>
            </a:r>
            <a:r>
              <a:rPr dirty="0" err="1"/>
              <a:t>предсказательную</a:t>
            </a:r>
            <a:r>
              <a:rPr dirty="0"/>
              <a:t> </a:t>
            </a:r>
            <a:r>
              <a:rPr dirty="0" err="1"/>
              <a:t>способность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LR </a:t>
            </a:r>
            <a:r>
              <a:rPr dirty="0" err="1"/>
              <a:t>значительно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интерпретации</a:t>
            </a:r>
            <a:r>
              <a:rPr dirty="0"/>
              <a:t>: </a:t>
            </a:r>
            <a:r>
              <a:rPr dirty="0" err="1"/>
              <a:t>коэффициенты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показывают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lang="en-US" dirty="0" smtClean="0"/>
              <a:t>	</a:t>
            </a:r>
            <a:r>
              <a:rPr dirty="0" err="1" smtClean="0"/>
              <a:t>влияние</a:t>
            </a:r>
            <a:r>
              <a:rPr dirty="0" smtClean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слова-признака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вероятность</a:t>
            </a:r>
            <a:r>
              <a:rPr dirty="0"/>
              <a:t> </a:t>
            </a:r>
            <a:r>
              <a:rPr dirty="0" err="1"/>
              <a:t>целевого</a:t>
            </a:r>
            <a:r>
              <a:rPr dirty="0"/>
              <a:t> </a:t>
            </a:r>
            <a:r>
              <a:rPr dirty="0" err="1"/>
              <a:t>события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LR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вычислительных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, </a:t>
            </a:r>
            <a:r>
              <a:rPr dirty="0" err="1"/>
              <a:t>обучается</a:t>
            </a:r>
            <a:r>
              <a:rPr dirty="0"/>
              <a:t> </a:t>
            </a:r>
            <a:r>
              <a:rPr dirty="0" err="1"/>
              <a:t>быстрее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LR </a:t>
            </a:r>
            <a:r>
              <a:rPr dirty="0" err="1"/>
              <a:t>менее</a:t>
            </a:r>
            <a:r>
              <a:rPr dirty="0"/>
              <a:t> </a:t>
            </a:r>
            <a:r>
              <a:rPr dirty="0" err="1"/>
              <a:t>склонна</a:t>
            </a:r>
            <a:r>
              <a:rPr dirty="0"/>
              <a:t> к </a:t>
            </a:r>
            <a:r>
              <a:rPr dirty="0" err="1"/>
              <a:t>переобучению</a:t>
            </a:r>
            <a:r>
              <a:rPr dirty="0"/>
              <a:t> </a:t>
            </a:r>
            <a:endParaRPr lang="en-US" dirty="0" smtClean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 smtClean="0"/>
              <a:t>• 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несмотря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существенного</a:t>
            </a:r>
            <a:r>
              <a:rPr dirty="0"/>
              <a:t> </a:t>
            </a:r>
            <a:r>
              <a:rPr dirty="0" err="1"/>
              <a:t>преимущества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rPr dirty="0"/>
              <a:t>•  </a:t>
            </a:r>
            <a:r>
              <a:rPr dirty="0" err="1"/>
              <a:t>GridSearchCV</a:t>
            </a:r>
            <a:r>
              <a:rPr dirty="0"/>
              <a:t> </a:t>
            </a:r>
            <a:r>
              <a:rPr dirty="0" err="1"/>
              <a:t>подтвердил</a:t>
            </a:r>
            <a:r>
              <a:rPr dirty="0"/>
              <a:t> </a:t>
            </a:r>
            <a:r>
              <a:rPr dirty="0" err="1"/>
              <a:t>устойчивость</a:t>
            </a:r>
            <a:r>
              <a:rPr dirty="0"/>
              <a:t> LR (5-fold </a:t>
            </a:r>
            <a:r>
              <a:rPr dirty="0" err="1"/>
              <a:t>кросс-валидация</a:t>
            </a:r>
            <a:r>
              <a:rPr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solidFill>
            <a:srgbClr val="2E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 err="1"/>
              <a:t>Финальная</a:t>
            </a:r>
            <a:r>
              <a:rPr dirty="0"/>
              <a:t> </a:t>
            </a:r>
            <a:r>
              <a:rPr dirty="0" err="1"/>
              <a:t>метрика</a:t>
            </a:r>
            <a:r>
              <a:rPr dirty="0"/>
              <a:t> </a:t>
            </a:r>
            <a:r>
              <a:rPr dirty="0" err="1"/>
              <a:t>логистической</a:t>
            </a:r>
            <a:r>
              <a:rPr dirty="0"/>
              <a:t> </a:t>
            </a:r>
            <a:r>
              <a:rPr dirty="0" err="1"/>
              <a:t>регрессии</a:t>
            </a:r>
            <a:r>
              <a:rPr dirty="0"/>
              <a:t>:  ROC-AUC = 0.9746   |   Accuracy = 0.944   |   F1-macro = 0.908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 err="1"/>
              <a:t>Внедрение</a:t>
            </a:r>
            <a:r>
              <a:rPr dirty="0"/>
              <a:t> и </a:t>
            </a:r>
            <a:r>
              <a:rPr dirty="0" err="1"/>
              <a:t>результаты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6386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sz="2200" dirty="0" err="1" smtClean="0"/>
              <a:t>Создана</a:t>
            </a:r>
            <a:r>
              <a:rPr sz="2200" dirty="0" smtClean="0"/>
              <a:t> </a:t>
            </a:r>
            <a:r>
              <a:rPr sz="2200" dirty="0" err="1" smtClean="0"/>
              <a:t>функция</a:t>
            </a:r>
            <a:r>
              <a:rPr sz="2200" dirty="0" smtClean="0"/>
              <a:t> </a:t>
            </a:r>
            <a:r>
              <a:rPr sz="2200" b="1" dirty="0" err="1" smtClean="0"/>
              <a:t>predict_new_data</a:t>
            </a:r>
            <a:r>
              <a:rPr sz="2200" b="1" dirty="0" smtClean="0"/>
              <a:t>()</a:t>
            </a:r>
            <a:r>
              <a:rPr sz="2200" dirty="0" smtClean="0"/>
              <a:t>:</a:t>
            </a:r>
            <a:r>
              <a:rPr lang="en-US" sz="2200" dirty="0" smtClean="0"/>
              <a:t> 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lang="en-US" sz="2200" dirty="0"/>
              <a:t>	</a:t>
            </a:r>
            <a:r>
              <a:rPr lang="en-US" sz="2200" dirty="0" smtClean="0"/>
              <a:t>- </a:t>
            </a:r>
            <a:r>
              <a:rPr sz="2200" dirty="0" err="1" smtClean="0"/>
              <a:t>принимает</a:t>
            </a:r>
            <a:r>
              <a:rPr sz="2200" dirty="0" smtClean="0"/>
              <a:t> Excel в </a:t>
            </a:r>
            <a:r>
              <a:rPr sz="2200" dirty="0" err="1" smtClean="0"/>
              <a:t>исходном</a:t>
            </a:r>
            <a:r>
              <a:rPr sz="2200" dirty="0" smtClean="0"/>
              <a:t> </a:t>
            </a:r>
            <a:r>
              <a:rPr sz="2200" dirty="0" err="1" smtClean="0"/>
              <a:t>формате</a:t>
            </a:r>
            <a:r>
              <a:rPr sz="2200" dirty="0" smtClean="0"/>
              <a:t>,</a:t>
            </a:r>
            <a:r>
              <a:rPr lang="en-US" sz="2200" dirty="0" smtClean="0"/>
              <a:t> 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lang="en-US" sz="2200" dirty="0" smtClean="0"/>
              <a:t>	- </a:t>
            </a:r>
            <a:r>
              <a:rPr sz="2200" dirty="0" err="1" smtClean="0"/>
              <a:t>возвращает</a:t>
            </a:r>
            <a:r>
              <a:rPr sz="2200" dirty="0" smtClean="0"/>
              <a:t> </a:t>
            </a:r>
            <a:r>
              <a:rPr sz="2200" dirty="0" err="1" smtClean="0"/>
              <a:t>файл</a:t>
            </a:r>
            <a:r>
              <a:rPr sz="2200" dirty="0" smtClean="0"/>
              <a:t> с </a:t>
            </a:r>
            <a:r>
              <a:rPr sz="2200" dirty="0" err="1" smtClean="0"/>
              <a:t>колонкой</a:t>
            </a:r>
            <a:r>
              <a:rPr sz="2200" dirty="0" smtClean="0"/>
              <a:t> «</a:t>
            </a:r>
            <a:r>
              <a:rPr sz="2200" dirty="0" err="1" smtClean="0"/>
              <a:t>Тип</a:t>
            </a:r>
            <a:r>
              <a:rPr sz="2200" dirty="0" smtClean="0"/>
              <a:t> </a:t>
            </a:r>
            <a:r>
              <a:rPr sz="2200" dirty="0" err="1" smtClean="0"/>
              <a:t>переработки</a:t>
            </a:r>
            <a:r>
              <a:rPr sz="2200" dirty="0" smtClean="0"/>
              <a:t>»</a:t>
            </a:r>
            <a:r>
              <a:rPr lang="en-US" sz="2200" dirty="0" smtClean="0"/>
              <a:t> </a:t>
            </a:r>
            <a:r>
              <a:rPr sz="2200" dirty="0" smtClean="0"/>
              <a:t> и «</a:t>
            </a:r>
            <a:r>
              <a:rPr sz="2200" dirty="0" err="1" smtClean="0"/>
              <a:t>Вероятность_АВР</a:t>
            </a:r>
            <a:r>
              <a:rPr sz="2200" dirty="0" smtClean="0"/>
              <a:t>» </a:t>
            </a:r>
            <a:endParaRPr lang="en-US" sz="2200" dirty="0" smtClean="0"/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endParaRPr sz="2200" dirty="0" smtClean="0"/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lang="ru-RU" sz="2200" dirty="0" smtClean="0"/>
              <a:t>Функция п</a:t>
            </a:r>
            <a:r>
              <a:rPr sz="2200" dirty="0" err="1" smtClean="0"/>
              <a:t>ротестирована</a:t>
            </a:r>
            <a:r>
              <a:rPr sz="2200" dirty="0" smtClean="0"/>
              <a:t> </a:t>
            </a:r>
            <a:r>
              <a:rPr sz="2200" dirty="0" err="1" smtClean="0"/>
              <a:t>на</a:t>
            </a:r>
            <a:r>
              <a:rPr sz="2200" dirty="0" smtClean="0"/>
              <a:t> </a:t>
            </a:r>
            <a:r>
              <a:rPr sz="2200" dirty="0" err="1" smtClean="0"/>
              <a:t>реальной</a:t>
            </a:r>
            <a:r>
              <a:rPr sz="2200" dirty="0" smtClean="0"/>
              <a:t> </a:t>
            </a:r>
            <a:r>
              <a:rPr sz="2200" dirty="0" err="1" smtClean="0"/>
              <a:t>выгрузке</a:t>
            </a:r>
            <a:r>
              <a:rPr lang="en-US" sz="2200" dirty="0" smtClean="0"/>
              <a:t> </a:t>
            </a:r>
            <a:endParaRPr lang="ru-RU" sz="2200" dirty="0" smtClean="0"/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lang="ru-RU" sz="2200" dirty="0"/>
              <a:t>	</a:t>
            </a:r>
            <a:r>
              <a:rPr lang="ru-RU" sz="2200" dirty="0" smtClean="0"/>
              <a:t>- </a:t>
            </a:r>
            <a:r>
              <a:rPr sz="2200" dirty="0" smtClean="0"/>
              <a:t>«</a:t>
            </a:r>
            <a:r>
              <a:rPr sz="2200" dirty="0" err="1" smtClean="0"/>
              <a:t>Детальная</a:t>
            </a:r>
            <a:r>
              <a:rPr sz="2200" dirty="0" smtClean="0"/>
              <a:t> выгрузка_ДЭС-Юг_2026_06»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sz="2200" dirty="0" smtClean="0"/>
              <a:t>  </a:t>
            </a:r>
            <a:endParaRPr lang="ru-RU" sz="2200" dirty="0" smtClean="0"/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endParaRPr sz="2200" dirty="0" smtClean="0"/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sz="2200" dirty="0" err="1" smtClean="0"/>
              <a:t>Результат</a:t>
            </a:r>
            <a:r>
              <a:rPr sz="2200" dirty="0" smtClean="0"/>
              <a:t>: </a:t>
            </a:r>
            <a:endParaRPr lang="ru-RU" sz="2200" dirty="0" smtClean="0"/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rPr lang="ru-RU" sz="2200" dirty="0"/>
              <a:t>	</a:t>
            </a:r>
            <a:r>
              <a:rPr lang="ru-RU" sz="2200" dirty="0" smtClean="0"/>
              <a:t>		</a:t>
            </a:r>
            <a:r>
              <a:rPr sz="2200" dirty="0" err="1" smtClean="0"/>
              <a:t>рабочий</a:t>
            </a:r>
            <a:r>
              <a:rPr sz="2200" dirty="0" smtClean="0"/>
              <a:t> </a:t>
            </a:r>
            <a:r>
              <a:rPr sz="2200" dirty="0" err="1" smtClean="0"/>
              <a:t>инструмент</a:t>
            </a:r>
            <a:r>
              <a:rPr sz="2200" dirty="0" smtClean="0"/>
              <a:t> </a:t>
            </a:r>
            <a:r>
              <a:rPr sz="2200" dirty="0" err="1" smtClean="0"/>
              <a:t>для</a:t>
            </a:r>
            <a:r>
              <a:rPr sz="2200" dirty="0" smtClean="0"/>
              <a:t> </a:t>
            </a:r>
            <a:r>
              <a:rPr sz="2200" dirty="0" err="1" smtClean="0"/>
              <a:t>разбивки</a:t>
            </a:r>
            <a:r>
              <a:rPr lang="en-US" sz="2200" dirty="0" smtClean="0"/>
              <a:t> </a:t>
            </a:r>
            <a:r>
              <a:rPr sz="2200" dirty="0" err="1" smtClean="0"/>
              <a:t>переработок</a:t>
            </a:r>
            <a:r>
              <a:rPr sz="2200" dirty="0" smtClean="0"/>
              <a:t> </a:t>
            </a:r>
            <a:r>
              <a:rPr sz="2200" dirty="0" err="1" smtClean="0"/>
              <a:t>на</a:t>
            </a:r>
            <a:r>
              <a:rPr sz="2200" dirty="0" smtClean="0"/>
              <a:t> </a:t>
            </a:r>
            <a:r>
              <a:rPr sz="2200" dirty="0" err="1" smtClean="0"/>
              <a:t>плановые</a:t>
            </a:r>
            <a:r>
              <a:rPr sz="2200" dirty="0" smtClean="0"/>
              <a:t> / </a:t>
            </a:r>
            <a:r>
              <a:rPr sz="2200" dirty="0" err="1" smtClean="0"/>
              <a:t>аварийные</a:t>
            </a:r>
            <a:endParaRPr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237392" y="5950932"/>
            <a:ext cx="1186082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4E79"/>
                </a:solidFill>
              </a:defRPr>
            </a:pPr>
            <a:r>
              <a:rPr sz="2800" dirty="0" err="1"/>
              <a:t>Применение</a:t>
            </a:r>
            <a:r>
              <a:rPr sz="2800" dirty="0"/>
              <a:t>: </a:t>
            </a:r>
            <a:r>
              <a:rPr lang="ru-RU" sz="2800" dirty="0" smtClean="0"/>
              <a:t> </a:t>
            </a:r>
            <a:r>
              <a:rPr sz="2800" dirty="0" err="1" smtClean="0"/>
              <a:t>защита</a:t>
            </a:r>
            <a:r>
              <a:rPr sz="2800" dirty="0" smtClean="0"/>
              <a:t> </a:t>
            </a:r>
            <a:r>
              <a:rPr sz="2800" dirty="0"/>
              <a:t>и </a:t>
            </a:r>
            <a:r>
              <a:rPr sz="2800" dirty="0" err="1"/>
              <a:t>корректировка</a:t>
            </a:r>
            <a:r>
              <a:rPr sz="2800" dirty="0"/>
              <a:t> </a:t>
            </a:r>
            <a:r>
              <a:rPr sz="2800" dirty="0" err="1"/>
              <a:t>бюджета</a:t>
            </a:r>
            <a:r>
              <a:rPr sz="2800" dirty="0"/>
              <a:t>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 smtClean="0"/>
              <a:t>типам</a:t>
            </a:r>
            <a:r>
              <a:rPr sz="2800" dirty="0" smtClean="0"/>
              <a:t> </a:t>
            </a:r>
            <a:r>
              <a:rPr sz="2800" dirty="0" err="1" smtClean="0"/>
              <a:t>переработок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412</Words>
  <Application>Microsoft Office PowerPoint</Application>
  <PresentationFormat>Широкоэкранный</PresentationFormat>
  <Paragraphs>77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Жаренко Денис Александрович</dc:creator>
  <cp:keywords/>
  <dc:description>generated using python-pptx</dc:description>
  <cp:lastModifiedBy>Жаренко Денис Александрович</cp:lastModifiedBy>
  <cp:revision>7</cp:revision>
  <dcterms:created xsi:type="dcterms:W3CDTF">2013-01-27T09:14:16Z</dcterms:created>
  <dcterms:modified xsi:type="dcterms:W3CDTF">2026-07-06T17:52:15Z</dcterms:modified>
  <cp:category/>
</cp:coreProperties>
</file>